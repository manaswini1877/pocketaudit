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D86BE4-2A22-4AE9-9086-73E41C5EEEAF}" v="1" dt="2026-09-07T15:26:48.7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swini rani" userId="851a346e7dfcf038" providerId="LiveId" clId="{11CC39E8-4802-45A8-A58F-594250C0B2E8}"/>
    <pc:docChg chg="undo custSel addSld delSld modSld">
      <pc:chgData name="manaswini rani" userId="851a346e7dfcf038" providerId="LiveId" clId="{11CC39E8-4802-45A8-A58F-594250C0B2E8}" dt="2026-09-07T15:30:17.913" v="8" actId="2696"/>
      <pc:docMkLst>
        <pc:docMk/>
      </pc:docMkLst>
      <pc:sldChg chg="delSp modSp add del mod setBg">
        <pc:chgData name="manaswini rani" userId="851a346e7dfcf038" providerId="LiveId" clId="{11CC39E8-4802-45A8-A58F-594250C0B2E8}" dt="2026-09-07T15:27:50.626" v="6" actId="21"/>
        <pc:sldMkLst>
          <pc:docMk/>
          <pc:sldMk cId="0" sldId="263"/>
        </pc:sldMkLst>
        <pc:spChg chg="mod">
          <ac:chgData name="manaswini rani" userId="851a346e7dfcf038" providerId="LiveId" clId="{11CC39E8-4802-45A8-A58F-594250C0B2E8}" dt="2026-09-07T15:27:34.337" v="5" actId="207"/>
          <ac:spMkLst>
            <pc:docMk/>
            <pc:sldMk cId="0" sldId="263"/>
            <ac:spMk id="4" creationId="{00000000-0000-0000-0000-000000000000}"/>
          </ac:spMkLst>
        </pc:spChg>
        <pc:spChg chg="del">
          <ac:chgData name="manaswini rani" userId="851a346e7dfcf038" providerId="LiveId" clId="{11CC39E8-4802-45A8-A58F-594250C0B2E8}" dt="2026-09-07T15:27:50.626" v="6" actId="21"/>
          <ac:spMkLst>
            <pc:docMk/>
            <pc:sldMk cId="0" sldId="263"/>
            <ac:spMk id="5" creationId="{00000000-0000-0000-0000-000000000000}"/>
          </ac:spMkLst>
        </pc:spChg>
      </pc:sldChg>
      <pc:sldChg chg="new del">
        <pc:chgData name="manaswini rani" userId="851a346e7dfcf038" providerId="LiveId" clId="{11CC39E8-4802-45A8-A58F-594250C0B2E8}" dt="2026-09-07T15:30:17.913" v="8" actId="2696"/>
        <pc:sldMkLst>
          <pc:docMk/>
          <pc:sldMk cId="1438711334" sldId="26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778D34-EB5B-4E0F-9850-E8AE9351961B}" type="datetimeFigureOut">
              <a:rPr lang="en-IN" smtClean="0"/>
              <a:t>07-09-2026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AF55B6-1803-4C04-B1A3-3B83704A89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4639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AF55B6-1803-4C04-B1A3-3B83704A890D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9422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media_178879441359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371600"/>
            <a:ext cx="2377440" cy="237744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097280"/>
            <a:ext cx="2926080" cy="411480"/>
          </a:xfrm>
          <a:prstGeom prst="roundRect">
            <a:avLst/>
          </a:prstGeom>
          <a:solidFill>
            <a:srgbClr val="161B22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5A623"/>
                </a:solidFill>
              </a:defRPr>
            </a:pPr>
            <a:r>
              <a:t>⚡ iQOO HACKATHON ENTRY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772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2997FF"/>
                </a:solidFill>
              </a:defRPr>
            </a:pPr>
            <a:r>
              <a:t>PocketAudit</a:t>
            </a:r>
          </a:p>
          <a:p>
            <a:pPr>
              <a:defRPr sz="2200">
                <a:solidFill>
                  <a:srgbClr val="F0F6FC"/>
                </a:solidFill>
              </a:defRPr>
            </a:pPr>
            <a:r>
              <a:t>100% On-Device, Zero-Internet Financial Fraud Shield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8B949E"/>
                </a:solidFill>
              </a:defRPr>
            </a:pPr>
            <a:r>
              <a:t>Real-Time Defense Against Fake UPI Collects, KYC Smishing &amp; Autopay Traps at Device Speed.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3200400" cy="1097280"/>
          </a:xfrm>
          <a:prstGeom prst="roundRect">
            <a:avLst/>
          </a:prstGeom>
          <a:solidFill>
            <a:srgbClr val="161B22"/>
          </a:solidFill>
          <a:ln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34C759"/>
                </a:solidFill>
              </a:defRPr>
            </a:pPr>
            <a:r>
              <a:t>0 BYTES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Zero Cloud / Internet Permission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06240" y="4754880"/>
            <a:ext cx="3200400" cy="1097280"/>
          </a:xfrm>
          <a:prstGeom prst="roundRect">
            <a:avLst/>
          </a:prstGeom>
          <a:solidFill>
            <a:srgbClr val="161B22"/>
          </a:solidFill>
          <a:ln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2997FF"/>
                </a:solidFill>
              </a:defRPr>
            </a:pPr>
            <a:r>
              <a:t>&lt; 2.5ms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Instant Heuristic Analysis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754880"/>
            <a:ext cx="3200400" cy="1097280"/>
          </a:xfrm>
          <a:prstGeom prst="roundRect">
            <a:avLst/>
          </a:prstGeom>
          <a:solidFill>
            <a:srgbClr val="161B22"/>
          </a:solidFill>
          <a:ln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2200" b="1">
                <a:solidFill>
                  <a:srgbClr val="F5A623"/>
                </a:solidFill>
              </a:defRPr>
            </a:pPr>
            <a:r>
              <a:t>100% OFFLINE</a:t>
            </a:r>
          </a:p>
          <a:p>
            <a:pPr>
              <a:defRPr sz="1200">
                <a:solidFill>
                  <a:srgbClr val="F0F6FC"/>
                </a:solidFill>
              </a:defRPr>
            </a:pPr>
            <a:r>
              <a:t>Encrypted Local Room 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The UPI &amp; Smishing Crisis in Modern Mobile Payments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F3B30"/>
                </a:solidFill>
              </a:defRPr>
            </a:pPr>
            <a:r>
              <a:t>🚨 Fake UPI Collect Requests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Scammers disguise collect debit requests as 'Cashback Refunds' or 'Lottery Wins'.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Victims are pressured into entering their UPI PIN under the false belief they are receiving money.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Fastest growing payment fraud in India, causing devastating single-transaction losses.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F3B30"/>
                </a:solidFill>
              </a:defRPr>
            </a:pPr>
            <a:r>
              <a:t>⚠️ Urgent KYC Phishing SMS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Spoofed bank texts claiming: 'HDFC/SBI account suspended within 24 hours'.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Shortened URLs (bit.ly, tinyurl, raw IP addresses) steal credentials &amp; OTPs.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High psychological urgency bypasses normal user caution.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5A623"/>
                </a:solidFill>
              </a:defRPr>
            </a:pPr>
            <a:r>
              <a:t>🔒 The Privacy Dilemma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Existing spam blockers upload private SMS &amp; contacts to remote cloud servers.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Massive violation of personal data privacy &amp; enterprise security.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Users are forced to choose between payment fraud or total data exposure.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THE SOLUTION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PocketAudit: Zero Latency, Zero Internet, Complete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34C759"/>
                </a:solidFill>
              </a:defRPr>
            </a:pPr>
            <a:r>
              <a:t>🛡️ 100% On-Device Protection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Zero internet permission in AndroidManifest.xml.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Strictly zero cloud transmission, zero third-party APIs, and zero data leakage.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All analysis happens in RAM on the phone's native processor.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2997FF"/>
                </a:solidFill>
              </a:defRPr>
            </a:pPr>
            <a:r>
              <a:t>⚡ Real-Time Notification Interception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Foreground NotificationListener with auto-rebind resilience.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Deep payload extraction: titles, BigText, and nested MessagingStyle threads.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SupervisorJob concurrency prevents service interruptions.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A855F7"/>
                </a:solidFill>
              </a:defRPr>
            </a:pPr>
            <a:r>
              <a:t>🧠 Multi-Vector Heuristic Engine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Specialized detectors for UPI Collect, Phishing Links, &amp; Mandate Traps.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High accuracy pattern &amp; regex matching running in under 2.5ms.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Contextual historical check for duplicate debit traps.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5A623"/>
                </a:solidFill>
              </a:defRPr>
            </a:pPr>
            <a:r>
              <a:t>🔔 Immediate Push Verdicts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Instant color-coded Android status bar notifications (🚨 Scam / ⚠️ Suspicious / ✅ Safe).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Plain-language explanation: Educates user WHY it was flagged.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One-tap deep-link directly into the audit detail breakdown.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ARCHITECTURE &amp; PIPELINE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End-to-End Hardened Architecture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251460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2997FF"/>
                </a:solidFill>
              </a:defRPr>
            </a:pPr>
            <a:r>
              <a:t>1. Interception</a:t>
            </a:r>
          </a:p>
          <a:p>
            <a:pPr>
              <a:spcAft>
                <a:spcPts val="1000"/>
              </a:spcAft>
              <a:defRPr sz="1300">
                <a:solidFill>
                  <a:srgbClr val="F0F6FC"/>
                </a:solidFill>
              </a:defRPr>
            </a:pPr>
            <a:r>
              <a:t>NotificationListenerService extracts title, BigText, &amp; MessagingStyle from Android Binder.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645920"/>
            <a:ext cx="251460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F5A623"/>
                </a:solidFill>
              </a:defRPr>
            </a:pPr>
            <a:r>
              <a:t>2. Smart Filter</a:t>
            </a:r>
          </a:p>
          <a:p>
            <a:pPr>
              <a:spcAft>
                <a:spcPts val="1000"/>
              </a:spcAft>
              <a:defRPr sz="1300">
                <a:solidFill>
                  <a:srgbClr val="F0F6FC"/>
                </a:solidFill>
              </a:defRPr>
            </a:pPr>
            <a:r>
              <a:t>NotificationFilter whitelists UPI, Banks, &amp; SMS apps while excluding WhatsApp/social noise.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1460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A855F7"/>
                </a:solidFill>
              </a:defRPr>
            </a:pPr>
            <a:r>
              <a:t>3. Detection Engine</a:t>
            </a:r>
          </a:p>
          <a:p>
            <a:pPr>
              <a:spcAft>
                <a:spcPts val="1000"/>
              </a:spcAft>
              <a:defRPr sz="1300">
                <a:solidFill>
                  <a:srgbClr val="F0F6FC"/>
                </a:solidFill>
              </a:defRPr>
            </a:pPr>
            <a:r>
              <a:t>DetectionEngine evaluates CollectRequest, PhishingLink, and SubscriptionTrap heuristics.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645920"/>
            <a:ext cx="251460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1400"/>
              </a:spcAft>
              <a:defRPr sz="1800" b="1">
                <a:solidFill>
                  <a:srgbClr val="34C759"/>
                </a:solidFill>
              </a:defRPr>
            </a:pPr>
            <a:r>
              <a:t>4. Storage &amp; Verdict</a:t>
            </a:r>
          </a:p>
          <a:p>
            <a:pPr>
              <a:spcAft>
                <a:spcPts val="1000"/>
              </a:spcAft>
              <a:defRPr sz="1300">
                <a:solidFill>
                  <a:srgbClr val="F0F6FC"/>
                </a:solidFill>
              </a:defRPr>
            </a:pPr>
            <a:r>
              <a:t>Persists every analyzed message to Room DB and fires instant push verdict notification.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CORE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Production-Ready Feature Suite (Live on Device)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2918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2997FF"/>
                </a:solidFill>
              </a:defRPr>
            </a:pPr>
            <a:r>
              <a:t>📱 Interactive Dashboard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Protection Status Banner with real-time active monitor indicator.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4 Live Stat Cards: High Risk, Medium Risk, Safe / Low, Total Scanned.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4 Quick Filter Chips for instant threat triage.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Chronological feed with color-coded risk percentage badges.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2918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A855F7"/>
                </a:solidFill>
              </a:defRPr>
            </a:pPr>
            <a:r>
              <a:t>🔍 Audit Detail Screen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Calculated Threat Gauge (0% to 100% exact risk meter).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Plain-Language Explanation: Explains why UPI PIN is never required for receiving funds.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Triggered Scam Rules list for complete transparency.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Original notification payload audit &amp; 'Mark as Safe' action.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2918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34C759"/>
                </a:solidFill>
              </a:defRPr>
            </a:pPr>
            <a:r>
              <a:t>🎯 Broad App Whitelist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Monitored UPI Apps: PhonePe, Google Pay, Paytm, BHIM, CRED, Amazon Pay.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Monitored Banks: SBI, HDFC, ICICI, Axis, Kotak, PNB, BoB.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Full coverage for Google Messages, Samsung Messages, ColorOS/Realme MMS, Xiaomi SMS.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USER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Accessible, Inclusive &amp; Tester-Ready Design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A855F7"/>
                </a:solidFill>
              </a:defRPr>
            </a:pPr>
            <a:r>
              <a:t>🧪 Interactive Demo Simulator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Integrated directly into Dashboard via Floating Action Button.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Pre-loaded scenarios: Fake UPI Collect, KYC Phishing, &amp; Autopay Traps.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Enables instant live demonstrations &amp; judging without needing a second phone.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34C759"/>
                </a:solidFill>
              </a:defRPr>
            </a:pPr>
            <a:r>
              <a:t>🗣️ Multilingual Localization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Native language engine supporting English and Telugu (తెలుగు).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Translates cyber security jargon into everyday regional advice.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Protects non-English speaking and elderly citizens most vulnerable to fraud.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2997FF"/>
                </a:solidFill>
              </a:defRPr>
            </a:pPr>
            <a:r>
              <a:t>🎨 Dynamic Responsive Theming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Full support for Cyber Dark Mode, Clean Slate Light Mode, &amp; System Default.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Material 3 dynamic color scheme applied across all cards, dialogs, and text.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Instantly persisted via private SharedPreferences across app restarts.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5A623"/>
                </a:solidFill>
              </a:defRPr>
            </a:pPr>
            <a:r>
              <a:t>⚙️ System Permission Management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One-tap shortcut to Android Notification Access settings.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Auto-rebind daemon restores monitoring if OS clears background services.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Prominent 100% On-Device Privacy Guarantee assurance banner.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TECH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Engineering Rigor &amp; Performance Benchmarks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2997FF"/>
                </a:solidFill>
              </a:defRPr>
            </a:pPr>
            <a:r>
              <a:t>🛠️ Modern Android Stack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Language: 100% Kotlin with strict null-safety.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Concurrency: Kotlin Coroutines with SupervisorJob &amp; StateFlow.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UI Layer: Jetpack Compose &amp; Material 3 declarative components.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Persistence: Android Room SQLite database with TypeConverters.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Architecture: MVVM (Model-View-ViewModel) with Unidirectional Data Flow.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Automated Testing: 16 JUnit unit tests enforcing 100% pass rate.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34C759"/>
                </a:solidFill>
              </a:defRPr>
            </a:pPr>
            <a:r>
              <a:t>⚡ Verified Device Benchmarks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Detection Latency: &lt; 2.5ms execution time per incoming payload.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Memory Overhead: &lt; 35MB RAM in steady background monitoring.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Battery Consumption: &lt; 0.8% total daily battery drain.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APK Binary Size: Under 16.1MB debug build (highly compact).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Crash Isolation: 0 background crashes; bad notifications never terminate service.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384048"/>
            <a:ext cx="960120" cy="50292"/>
          </a:xfrm>
          <a:prstGeom prst="rect">
            <a:avLst/>
          </a:prstGeom>
          <a:solidFill>
            <a:srgbClr val="2997FF"/>
          </a:solidFill>
          <a:ln>
            <a:solidFill>
              <a:srgbClr val="2997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dirty="0">
                <a:solidFill>
                  <a:srgbClr val="2997FF"/>
                </a:solidFill>
                <a:latin typeface="Aptos"/>
              </a:rPr>
              <a:t>COMPETITIVE 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110642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dirty="0">
                <a:solidFill>
                  <a:schemeClr val="tx2"/>
                </a:solidFill>
                <a:latin typeface="Aptos"/>
              </a:rPr>
              <a:t>How </a:t>
            </a:r>
            <a:r>
              <a:rPr sz="2700" b="1" dirty="0" err="1">
                <a:solidFill>
                  <a:schemeClr val="tx2"/>
                </a:solidFill>
                <a:latin typeface="Aptos"/>
              </a:rPr>
              <a:t>PocketAudit</a:t>
            </a:r>
            <a:r>
              <a:rPr sz="2700" b="1" dirty="0">
                <a:solidFill>
                  <a:schemeClr val="tx2"/>
                </a:solidFill>
                <a:latin typeface="Aptos"/>
              </a:rPr>
              <a:t> Outperforms Existing Solutions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91640"/>
            <a:ext cx="2743200" cy="594360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Capability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691640"/>
            <a:ext cx="2377440" cy="594360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337560" y="1874519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Cloud / Antivirus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23560" y="1691640"/>
            <a:ext cx="1828800" cy="594360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15000" y="1874519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OS Alerts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52360" y="1691640"/>
            <a:ext cx="4206240" cy="594360"/>
          </a:xfrm>
          <a:prstGeom prst="rect">
            <a:avLst/>
          </a:prstGeom>
          <a:solidFill>
            <a:srgbClr val="2997FF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43800" y="1874519"/>
            <a:ext cx="402335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5F7FA"/>
                </a:solidFill>
                <a:latin typeface="Aptos"/>
              </a:rPr>
              <a:t>PocketAudit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286000"/>
            <a:ext cx="27432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24505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Privacy / Zero Internet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2286000"/>
            <a:ext cx="23774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37560" y="24505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 Cloud dependency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23560" y="2286000"/>
            <a:ext cx="18288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715000" y="245059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⚠️ Telemetry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52360" y="2286000"/>
            <a:ext cx="42062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450592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C759"/>
                </a:solidFill>
                <a:latin typeface="Aptos"/>
              </a:rPr>
              <a:t>✅ Offline by design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944368"/>
            <a:ext cx="27432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310896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UPI Collect Scam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46120" y="2944368"/>
            <a:ext cx="23774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337560" y="31089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23560" y="2944368"/>
            <a:ext cx="18288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715000" y="31089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52360" y="2944368"/>
            <a:ext cx="42062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543800" y="3108960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C759"/>
                </a:solidFill>
                <a:latin typeface="Aptos"/>
              </a:rPr>
              <a:t>✅ Collect + VPA heuristics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3602736"/>
            <a:ext cx="27432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4360" y="3767328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Autopay / Mandate Traps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46120" y="3602736"/>
            <a:ext cx="23774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337560" y="3767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23560" y="3602736"/>
            <a:ext cx="18288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5000" y="37673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52360" y="3602736"/>
            <a:ext cx="42062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543800" y="3767328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C759"/>
                </a:solidFill>
                <a:latin typeface="Aptos"/>
              </a:rPr>
              <a:t>✅ Context checks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4261104"/>
            <a:ext cx="27432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4360" y="4425696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Plain-language “Why”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4261104"/>
            <a:ext cx="23774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337560" y="44256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 Generic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23560" y="4261104"/>
            <a:ext cx="18288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715000" y="442569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F3B30"/>
                </a:solidFill>
                <a:latin typeface="Aptos"/>
              </a:rPr>
              <a:t>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452360" y="4261104"/>
            <a:ext cx="42062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7543800" y="4425696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C759"/>
                </a:solidFill>
                <a:latin typeface="Aptos"/>
              </a:rPr>
              <a:t>✅ Explainable cards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2920" y="4919472"/>
            <a:ext cx="27432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5084064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Resource Impact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46120" y="4919472"/>
            <a:ext cx="23774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37560" y="50840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Cloud polling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623560" y="4919472"/>
            <a:ext cx="182880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715000" y="508406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F5F7FA"/>
                </a:solidFill>
                <a:latin typeface="Aptos"/>
              </a:rPr>
              <a:t>Basic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452360" y="4919472"/>
            <a:ext cx="4206240" cy="621792"/>
          </a:xfrm>
          <a:prstGeom prst="rect">
            <a:avLst/>
          </a:prstGeom>
          <a:solidFill>
            <a:srgbClr val="171D26"/>
          </a:solidFill>
          <a:ln>
            <a:solidFill>
              <a:srgbClr val="303A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7543800" y="5084064"/>
            <a:ext cx="402335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34C759"/>
                </a:solidFill>
                <a:latin typeface="Aptos"/>
              </a:rPr>
              <a:t>✅ Ultra-lean local execution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565392"/>
            <a:ext cx="36576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dirty="0" err="1">
                <a:solidFill>
                  <a:srgbClr val="A0AAB9"/>
                </a:solidFill>
                <a:latin typeface="Aptos"/>
              </a:rPr>
              <a:t>PocketAudit</a:t>
            </a:r>
            <a:r>
              <a:rPr sz="800" b="0" dirty="0">
                <a:solidFill>
                  <a:srgbClr val="A0AAB9"/>
                </a:solidFill>
                <a:latin typeface="Aptos"/>
              </a:rPr>
              <a:t>  |  </a:t>
            </a:r>
            <a:r>
              <a:rPr sz="800" b="0" dirty="0" err="1">
                <a:solidFill>
                  <a:srgbClr val="A0AAB9"/>
                </a:solidFill>
                <a:latin typeface="Aptos"/>
              </a:rPr>
              <a:t>iQOO</a:t>
            </a:r>
            <a:r>
              <a:rPr sz="800" b="0" dirty="0">
                <a:solidFill>
                  <a:srgbClr val="A0AAB9"/>
                </a:solidFill>
                <a:latin typeface="Aptos"/>
              </a:rPr>
              <a:t> Hackathon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FUTURE ENHANCEMENTS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Next-Gen AI &amp; Accessibility Roadmap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5A623"/>
                </a:solidFill>
              </a:defRPr>
            </a:pPr>
            <a:r>
              <a:t>🔊 Real-Time Spoken Voice Alerts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Offline native Android TextToSpeech (TTS) integration.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Speaks immediate audio warning when high-risk scam arrives: 'Warning! Do not enter your UPI PIN.'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Breaks scammer psychological pressure loop even if phone is in pocket or on a call.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34C759"/>
                </a:solidFill>
              </a:defRPr>
            </a:pPr>
            <a:r>
              <a:t>🗣️ Pan-India Multilingual Coverage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Expand beyond English &amp; Telugu to Hindi, Tamil, Kannada, Marathi, &amp; Bengali.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UI and Spoken Voice warnings in regional mother tongues.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Covers 95%+ of Indian mobile payment users, protecting rural &amp; elderly demographics.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A855F7"/>
                </a:solidFill>
              </a:defRPr>
            </a:pPr>
            <a:r>
              <a:t>🧠 On-Device SLM (Gemma 2B / NPU)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Quantized Gemma 2B running locally via Qualcomm AI Stack on iQOO hardware.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Zero-internet contextual semantic reasoning for sophisticated novel scam pretexts.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Hardware-accelerated edge inference with negligible battery drain.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4114800"/>
            <a:ext cx="5120640" cy="219456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2997FF"/>
                </a:solidFill>
              </a:defRPr>
            </a:pPr>
            <a:r>
              <a:t>🛡️ Active Screen Overlay &amp; QR Guard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Accessibility overlay warning before user enters UPI PIN on suspicious requests.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Inspects deep-links inside QR codes (upi://pay?pa=...) before launching payment apps.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Direct integration into iQOO OriginOS / Funtouch OS Security Suite.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_water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7367" y="1600200"/>
            <a:ext cx="4389120" cy="4389120"/>
          </a:xfrm>
          <a:prstGeom prst="rect">
            <a:avLst/>
          </a:prstGeom>
        </p:spPr>
      </p:pic>
      <p:pic>
        <p:nvPicPr>
          <p:cNvPr id="4" name="Picture 3" descr="logo_corn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0" y="365760"/>
            <a:ext cx="594360" cy="594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36576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A623"/>
                </a:solidFill>
              </a:defRPr>
            </a:pPr>
            <a:r>
              <a:t>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0F6FC"/>
                </a:solidFill>
              </a:defRPr>
            </a:pPr>
            <a:r>
              <a:t>Empowering the iQOO Ecosystem with Digital Trust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10607040" cy="4389120"/>
          </a:xfrm>
          <a:prstGeom prst="roundRect">
            <a:avLst/>
          </a:prstGeom>
          <a:solidFill>
            <a:srgbClr val="161B22"/>
          </a:solidFill>
          <a:ln w="1905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228600" bIns="22860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F5A623"/>
                </a:solidFill>
              </a:defRPr>
            </a:pPr>
            <a:r>
              <a:t>🚀 Why PocketAudit Belongs on Every iQOO Device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Performance Meets Security: iQOO is renowned for top-tier hardware performance. PocketAudit complements this by delivering industry-leading, zero-latency payment defense.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Brand Differentiation: Transforms iQOO smartphones into the most trusted payment devices in the market for banking, trading, and daily commerce.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Privacy by Design: Proves that enterprise-grade security and uncompromising user privacy can seamlessly coexist without uploading a single byte to cloud servers.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Massive Social Impact: Shields millions of first-time digital users, students, and seniors from predatory payment fraud.</a:t>
            </a:r>
          </a:p>
          <a:p>
            <a:pPr>
              <a:spcAft>
                <a:spcPts val="800"/>
              </a:spcAft>
              <a:defRPr sz="1300">
                <a:solidFill>
                  <a:srgbClr val="F0F6FC"/>
                </a:solidFill>
              </a:defRPr>
            </a:pPr>
            <a:r>
              <a:t>• Thank You! Let's build a scam-free mobile future together.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1320</Words>
  <Application>Microsoft Office PowerPoint</Application>
  <PresentationFormat>Widescreen</PresentationFormat>
  <Paragraphs>155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manaswini rani</cp:lastModifiedBy>
  <cp:revision>1</cp:revision>
  <dcterms:created xsi:type="dcterms:W3CDTF">2013-01-27T09:14:16Z</dcterms:created>
  <dcterms:modified xsi:type="dcterms:W3CDTF">2026-09-07T15:30:23Z</dcterms:modified>
  <cp:category/>
</cp:coreProperties>
</file>